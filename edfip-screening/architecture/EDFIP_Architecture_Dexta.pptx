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320040"/>
          </a:xfrm>
          <a:prstGeom prst="rect">
            <a:avLst/>
          </a:prstGeom>
          <a:noFill/>
        </p:spPr>
        <p:txBody>
          <a:bodyPr wrap="square">
            <a:spAutoFit/>
          </a:bodyPr>
          <a:lstStyle/>
          <a:p>
            <a:pPr algn="l"/>
            <a:r>
              <a:rPr sz="1300" b="1">
                <a:solidFill>
                  <a:srgbClr val="C4A056"/>
                </a:solidFill>
                <a:latin typeface="Calibri"/>
              </a:rPr>
              <a:t>PROPOSED ARCHITECTURE</a:t>
            </a:r>
          </a:p>
        </p:txBody>
      </p:sp>
      <p:sp>
        <p:nvSpPr>
          <p:cNvPr id="4" name="TextBox 3"/>
          <p:cNvSpPr txBox="1"/>
          <p:nvPr/>
        </p:nvSpPr>
        <p:spPr>
          <a:xfrm>
            <a:off x="640080" y="914400"/>
            <a:ext cx="10972800" cy="2011680"/>
          </a:xfrm>
          <a:prstGeom prst="rect">
            <a:avLst/>
          </a:prstGeom>
          <a:noFill/>
        </p:spPr>
        <p:txBody>
          <a:bodyPr wrap="square">
            <a:spAutoFit/>
          </a:bodyPr>
          <a:lstStyle/>
          <a:p>
            <a:pPr algn="l"/>
            <a:r>
              <a:rPr sz="3400" b="0">
                <a:solidFill>
                  <a:srgbClr val="F4F0E6"/>
                </a:solidFill>
                <a:latin typeface="Georgia"/>
              </a:rPr>
              <a:t>One platform Emeraid hosts.
Institutions are onboarded
and licensed.</a:t>
            </a:r>
          </a:p>
        </p:txBody>
      </p:sp>
      <p:sp>
        <p:nvSpPr>
          <p:cNvPr id="5" name="TextBox 4"/>
          <p:cNvSpPr txBox="1"/>
          <p:nvPr/>
        </p:nvSpPr>
        <p:spPr>
          <a:xfrm>
            <a:off x="640080" y="3291840"/>
            <a:ext cx="10515600" cy="1645920"/>
          </a:xfrm>
          <a:prstGeom prst="rect">
            <a:avLst/>
          </a:prstGeom>
          <a:noFill/>
        </p:spPr>
        <p:txBody>
          <a:bodyPr wrap="square">
            <a:spAutoFit/>
          </a:bodyPr>
          <a:lstStyle/>
          <a:p>
            <a:pPr algn="l"/>
            <a:r>
              <a:rPr sz="1800" b="0">
                <a:solidFill>
                  <a:srgbClr val="A8B3AA"/>
                </a:solidFill>
                <a:latin typeface="Calibri"/>
              </a:rPr>
              <a:t>This document sets out how EDFIP operates as multi-tenant software-as-a-service that Emeraid will host, brand, and sell.</a:t>
            </a:r>
          </a:p>
        </p:txBody>
      </p:sp>
      <p:sp>
        <p:nvSpPr>
          <p:cNvPr id="6" name="TextBox 5"/>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7" name="TextBox 6"/>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SOFTWARE AS A SERVICE</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Emeraid does not install EDFIP
at each institution.</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02 / 16</a:t>
            </a:r>
          </a:p>
        </p:txBody>
      </p:sp>
      <p:sp>
        <p:nvSpPr>
          <p:cNvPr id="7" name="TextBox 6"/>
          <p:cNvSpPr txBox="1"/>
          <p:nvPr/>
        </p:nvSpPr>
        <p:spPr>
          <a:xfrm>
            <a:off x="640080" y="2331720"/>
            <a:ext cx="2560320" cy="2926080"/>
          </a:xfrm>
          <a:prstGeom prst="rect">
            <a:avLst/>
          </a:prstGeom>
          <a:noFill/>
        </p:spPr>
        <p:txBody>
          <a:bodyPr wrap="square">
            <a:spAutoFit/>
          </a:bodyPr>
          <a:lstStyle/>
          <a:p>
            <a:pPr algn="l"/>
            <a:r>
              <a:rPr sz="1500" b="0">
                <a:solidFill>
                  <a:srgbClr val="F4F0E6"/>
                </a:solidFill>
                <a:latin typeface="Calibri"/>
              </a:rPr>
              <a:t>1. HOST
One platform on Emeraid’s environment.</a:t>
            </a:r>
          </a:p>
        </p:txBody>
      </p:sp>
      <p:sp>
        <p:nvSpPr>
          <p:cNvPr id="8" name="TextBox 7"/>
          <p:cNvSpPr txBox="1"/>
          <p:nvPr/>
        </p:nvSpPr>
        <p:spPr>
          <a:xfrm>
            <a:off x="3383280" y="2331720"/>
            <a:ext cx="2560320" cy="2926080"/>
          </a:xfrm>
          <a:prstGeom prst="rect">
            <a:avLst/>
          </a:prstGeom>
          <a:noFill/>
        </p:spPr>
        <p:txBody>
          <a:bodyPr wrap="square">
            <a:spAutoFit/>
          </a:bodyPr>
          <a:lstStyle/>
          <a:p>
            <a:pPr algn="l"/>
            <a:r>
              <a:rPr sz="1500" b="0">
                <a:solidFill>
                  <a:srgbClr val="F4F0E6"/>
                </a:solidFill>
                <a:latin typeface="Calibri"/>
              </a:rPr>
              <a:t>2. ONBOARD
Super Administrator creates the institution.</a:t>
            </a:r>
          </a:p>
        </p:txBody>
      </p:sp>
      <p:sp>
        <p:nvSpPr>
          <p:cNvPr id="9" name="TextBox 8"/>
          <p:cNvSpPr txBox="1"/>
          <p:nvPr/>
        </p:nvSpPr>
        <p:spPr>
          <a:xfrm>
            <a:off x="6126480" y="2331720"/>
            <a:ext cx="2560320" cy="2926080"/>
          </a:xfrm>
          <a:prstGeom prst="rect">
            <a:avLst/>
          </a:prstGeom>
          <a:noFill/>
        </p:spPr>
        <p:txBody>
          <a:bodyPr wrap="square">
            <a:spAutoFit/>
          </a:bodyPr>
          <a:lstStyle/>
          <a:p>
            <a:pPr algn="l"/>
            <a:r>
              <a:rPr sz="1500" b="0">
                <a:solidFill>
                  <a:srgbClr val="F4F0E6"/>
                </a:solidFill>
                <a:latin typeface="Calibri"/>
              </a:rPr>
              <a:t>3. LICENCE
The purchased module pack is switched on.</a:t>
            </a:r>
          </a:p>
        </p:txBody>
      </p:sp>
      <p:sp>
        <p:nvSpPr>
          <p:cNvPr id="10" name="TextBox 9"/>
          <p:cNvSpPr txBox="1"/>
          <p:nvPr/>
        </p:nvSpPr>
        <p:spPr>
          <a:xfrm>
            <a:off x="8869680" y="2331720"/>
            <a:ext cx="2651760" cy="2926080"/>
          </a:xfrm>
          <a:prstGeom prst="rect">
            <a:avLst/>
          </a:prstGeom>
          <a:noFill/>
        </p:spPr>
        <p:txBody>
          <a:bodyPr wrap="square">
            <a:spAutoFit/>
          </a:bodyPr>
          <a:lstStyle/>
          <a:p>
            <a:pPr algn="l"/>
            <a:r>
              <a:rPr sz="1500" b="0">
                <a:solidFill>
                  <a:srgbClr val="F4F0E6"/>
                </a:solidFill>
                <a:latin typeface="Calibri"/>
              </a:rPr>
              <a:t>4. USE
Staff work only in the licensed portion.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CONFIGURABLE PACKS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The same platform, sold as
different products.</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03 / 16</a:t>
            </a:r>
          </a:p>
        </p:txBody>
      </p:sp>
      <p:sp>
        <p:nvSpPr>
          <p:cNvPr id="7" name="TextBox 6"/>
          <p:cNvSpPr txBox="1"/>
          <p:nvPr/>
        </p:nvSpPr>
        <p:spPr>
          <a:xfrm>
            <a:off x="640080" y="2331720"/>
            <a:ext cx="2743200" cy="2560320"/>
          </a:xfrm>
          <a:prstGeom prst="rect">
            <a:avLst/>
          </a:prstGeom>
          <a:noFill/>
        </p:spPr>
        <p:txBody>
          <a:bodyPr wrap="square">
            <a:spAutoFit/>
          </a:bodyPr>
          <a:lstStyle/>
          <a:p>
            <a:pPr algn="l"/>
            <a:r>
              <a:rPr sz="1500" b="0">
                <a:solidFill>
                  <a:srgbClr val="F4F0E6"/>
                </a:solidFill>
                <a:latin typeface="Calibri"/>
              </a:rPr>
              <a:t>MICROFINANCE
CRM, core banking,
agency, field app</a:t>
            </a:r>
          </a:p>
        </p:txBody>
      </p:sp>
      <p:sp>
        <p:nvSpPr>
          <p:cNvPr id="8" name="TextBox 7"/>
          <p:cNvSpPr txBox="1"/>
          <p:nvPr/>
        </p:nvSpPr>
        <p:spPr>
          <a:xfrm>
            <a:off x="3566160" y="2331720"/>
            <a:ext cx="2743200" cy="2560320"/>
          </a:xfrm>
          <a:prstGeom prst="rect">
            <a:avLst/>
          </a:prstGeom>
          <a:noFill/>
        </p:spPr>
        <p:txBody>
          <a:bodyPr wrap="square">
            <a:spAutoFit/>
          </a:bodyPr>
          <a:lstStyle/>
          <a:p>
            <a:pPr algn="l"/>
            <a:r>
              <a:rPr sz="1500" b="0">
                <a:solidFill>
                  <a:srgbClr val="F4F0E6"/>
                </a:solidFill>
                <a:latin typeface="Calibri"/>
              </a:rPr>
              <a:t>COOPERATIVE
CRM, share register,
core banking</a:t>
            </a:r>
          </a:p>
        </p:txBody>
      </p:sp>
      <p:sp>
        <p:nvSpPr>
          <p:cNvPr id="9" name="TextBox 8"/>
          <p:cNvSpPr txBox="1"/>
          <p:nvPr/>
        </p:nvSpPr>
        <p:spPr>
          <a:xfrm>
            <a:off x="6492240" y="2331720"/>
            <a:ext cx="2743200" cy="2560320"/>
          </a:xfrm>
          <a:prstGeom prst="rect">
            <a:avLst/>
          </a:prstGeom>
          <a:noFill/>
        </p:spPr>
        <p:txBody>
          <a:bodyPr wrap="square">
            <a:spAutoFit/>
          </a:bodyPr>
          <a:lstStyle/>
          <a:p>
            <a:pPr algn="l"/>
            <a:r>
              <a:rPr sz="1500" b="0">
                <a:solidFill>
                  <a:srgbClr val="F4F0E6"/>
                </a:solidFill>
                <a:latin typeface="Calibri"/>
              </a:rPr>
              <a:t>VSLA NETWORK
CRM, share-out,
core banking</a:t>
            </a:r>
          </a:p>
        </p:txBody>
      </p:sp>
      <p:sp>
        <p:nvSpPr>
          <p:cNvPr id="10" name="TextBox 9"/>
          <p:cNvSpPr txBox="1"/>
          <p:nvPr/>
        </p:nvSpPr>
        <p:spPr>
          <a:xfrm>
            <a:off x="9418320" y="2331720"/>
            <a:ext cx="2194560" cy="2560320"/>
          </a:xfrm>
          <a:prstGeom prst="rect">
            <a:avLst/>
          </a:prstGeom>
          <a:noFill/>
        </p:spPr>
        <p:txBody>
          <a:bodyPr wrap="square">
            <a:spAutoFit/>
          </a:bodyPr>
          <a:lstStyle/>
          <a:p>
            <a:pPr algn="l"/>
            <a:r>
              <a:rPr sz="1500" b="0">
                <a:solidFill>
                  <a:srgbClr val="F4F0E6"/>
                </a:solidFill>
                <a:latin typeface="Calibri"/>
              </a:rPr>
              <a:t>PAYGO / GAF
CRM, device credit,
OEM tokens</a:t>
            </a:r>
          </a:p>
        </p:txBody>
      </p:sp>
      <p:sp>
        <p:nvSpPr>
          <p:cNvPr id="11" name="TextBox 10"/>
          <p:cNvSpPr txBox="1"/>
          <p:nvPr/>
        </p:nvSpPr>
        <p:spPr>
          <a:xfrm>
            <a:off x="640080" y="5029200"/>
            <a:ext cx="10972800" cy="1097280"/>
          </a:xfrm>
          <a:prstGeom prst="rect">
            <a:avLst/>
          </a:prstGeom>
          <a:noFill/>
        </p:spPr>
        <p:txBody>
          <a:bodyPr wrap="square">
            <a:spAutoFit/>
          </a:bodyPr>
          <a:lstStyle/>
          <a:p>
            <a:pPr algn="l"/>
            <a:r>
              <a:rPr sz="1600" b="0">
                <a:solidFill>
                  <a:srgbClr val="A8B3AA"/>
                </a:solidFill>
                <a:latin typeface="Calibri"/>
              </a:rPr>
              <a:t>Packs are assembled from a catalogue and can be changed during the contract. Unlicensed modules are unavailable in the screens and in the API.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PLATFORM</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Four parts. One ledger.</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04 / 16</a:t>
            </a:r>
          </a:p>
        </p:txBody>
      </p:sp>
      <p:sp>
        <p:nvSpPr>
          <p:cNvPr id="7" name="TextBox 6"/>
          <p:cNvSpPr txBox="1"/>
          <p:nvPr/>
        </p:nvSpPr>
        <p:spPr>
          <a:xfrm>
            <a:off x="640080" y="2286000"/>
            <a:ext cx="2743200" cy="3108960"/>
          </a:xfrm>
          <a:prstGeom prst="rect">
            <a:avLst/>
          </a:prstGeom>
          <a:noFill/>
        </p:spPr>
        <p:txBody>
          <a:bodyPr wrap="square">
            <a:spAutoFit/>
          </a:bodyPr>
          <a:lstStyle/>
          <a:p>
            <a:pPr algn="l"/>
            <a:r>
              <a:rPr sz="1400" b="0">
                <a:solidFill>
                  <a:srgbClr val="F4F0E6"/>
                </a:solidFill>
                <a:latin typeface="Calibri"/>
              </a:rPr>
              <a:t>ODOO
Where people work: CRM, KYC, VSLA, cooperatives, PayGo, agency, System Administration.</a:t>
            </a:r>
          </a:p>
        </p:txBody>
      </p:sp>
      <p:sp>
        <p:nvSpPr>
          <p:cNvPr id="8" name="TextBox 7"/>
          <p:cNvSpPr txBox="1"/>
          <p:nvPr/>
        </p:nvSpPr>
        <p:spPr>
          <a:xfrm>
            <a:off x="3566160" y="2286000"/>
            <a:ext cx="2743200" cy="3108960"/>
          </a:xfrm>
          <a:prstGeom prst="rect">
            <a:avLst/>
          </a:prstGeom>
          <a:noFill/>
        </p:spPr>
        <p:txBody>
          <a:bodyPr wrap="square">
            <a:spAutoFit/>
          </a:bodyPr>
          <a:lstStyle/>
          <a:p>
            <a:pPr algn="l"/>
            <a:r>
              <a:rPr sz="1400" b="0">
                <a:solidFill>
                  <a:srgbClr val="F4F0E6"/>
                </a:solidFill>
                <a:latin typeface="Calibri"/>
              </a:rPr>
              <a:t>APACHE FINERACT
Core banking: loans, savings, schedules, balances, general ledger. APIs only.</a:t>
            </a:r>
          </a:p>
        </p:txBody>
      </p:sp>
      <p:sp>
        <p:nvSpPr>
          <p:cNvPr id="9" name="TextBox 8"/>
          <p:cNvSpPr txBox="1"/>
          <p:nvPr/>
        </p:nvSpPr>
        <p:spPr>
          <a:xfrm>
            <a:off x="6492240" y="2286000"/>
            <a:ext cx="2743200" cy="3108960"/>
          </a:xfrm>
          <a:prstGeom prst="rect">
            <a:avLst/>
          </a:prstGeom>
          <a:noFill/>
        </p:spPr>
        <p:txBody>
          <a:bodyPr wrap="square">
            <a:spAutoFit/>
          </a:bodyPr>
          <a:lstStyle/>
          <a:p>
            <a:pPr algn="l"/>
            <a:r>
              <a:rPr sz="1400" b="0">
                <a:solidFill>
                  <a:srgbClr val="F4F0E6"/>
                </a:solidFill>
                <a:latin typeface="Calibri"/>
              </a:rPr>
              <a:t>FASTAPI
Channel and money path. Separate process, same environment as Odoo.</a:t>
            </a:r>
          </a:p>
        </p:txBody>
      </p:sp>
      <p:sp>
        <p:nvSpPr>
          <p:cNvPr id="10" name="TextBox 9"/>
          <p:cNvSpPr txBox="1"/>
          <p:nvPr/>
        </p:nvSpPr>
        <p:spPr>
          <a:xfrm>
            <a:off x="9418320" y="2286000"/>
            <a:ext cx="2286000" cy="3108960"/>
          </a:xfrm>
          <a:prstGeom prst="rect">
            <a:avLst/>
          </a:prstGeom>
          <a:noFill/>
        </p:spPr>
        <p:txBody>
          <a:bodyPr wrap="square">
            <a:spAutoFit/>
          </a:bodyPr>
          <a:lstStyle/>
          <a:p>
            <a:pPr algn="l"/>
            <a:r>
              <a:rPr sz="1400" b="0">
                <a:solidFill>
                  <a:srgbClr val="F4F0E6"/>
                </a:solidFill>
                <a:latin typeface="Calibri"/>
              </a:rPr>
              <a:t>FLUTTER
Field Android (offline) and customer Android. Calls FastAPI only.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HOW PEOPLE ENTER</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Staff open the operating platform.
Customers open the app or portal.</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05 / 16</a:t>
            </a:r>
          </a:p>
        </p:txBody>
      </p:sp>
      <p:sp>
        <p:nvSpPr>
          <p:cNvPr id="7" name="TextBox 6"/>
          <p:cNvSpPr txBox="1"/>
          <p:nvPr/>
        </p:nvSpPr>
        <p:spPr>
          <a:xfrm>
            <a:off x="640080" y="2468880"/>
            <a:ext cx="5303520" cy="2377440"/>
          </a:xfrm>
          <a:prstGeom prst="rect">
            <a:avLst/>
          </a:prstGeom>
          <a:noFill/>
        </p:spPr>
        <p:txBody>
          <a:bodyPr wrap="square">
            <a:spAutoFit/>
          </a:bodyPr>
          <a:lstStyle/>
          <a:p>
            <a:pPr algn="l"/>
            <a:r>
              <a:rPr sz="1600" b="0">
                <a:solidFill>
                  <a:srgbClr val="F4F0E6"/>
                </a:solidFill>
                <a:latin typeface="Calibri"/>
              </a:rPr>
              <a:t>STAFF AND ADMINISTRATORS
Institution staff and Emeraid Super Administrators work on the operating platform. The customer web portal is here too.</a:t>
            </a:r>
          </a:p>
        </p:txBody>
      </p:sp>
      <p:sp>
        <p:nvSpPr>
          <p:cNvPr id="8" name="TextBox 7"/>
          <p:cNvSpPr txBox="1"/>
          <p:nvPr/>
        </p:nvSpPr>
        <p:spPr>
          <a:xfrm>
            <a:off x="6400800" y="2468880"/>
            <a:ext cx="5120640" cy="2377440"/>
          </a:xfrm>
          <a:prstGeom prst="rect">
            <a:avLst/>
          </a:prstGeom>
          <a:noFill/>
        </p:spPr>
        <p:txBody>
          <a:bodyPr wrap="square">
            <a:spAutoFit/>
          </a:bodyPr>
          <a:lstStyle/>
          <a:p>
            <a:pPr algn="l"/>
            <a:r>
              <a:rPr sz="1600" b="0">
                <a:solidFill>
                  <a:srgbClr val="F4F0E6"/>
                </a:solidFill>
                <a:latin typeface="Calibri"/>
              </a:rPr>
              <a:t>APPS AND CHANNELS
Field app, customer app, USSD, payment providers, and OEM callbacks use the integration service.</a:t>
            </a:r>
          </a:p>
        </p:txBody>
      </p:sp>
      <p:sp>
        <p:nvSpPr>
          <p:cNvPr id="9" name="TextBox 8"/>
          <p:cNvSpPr txBox="1"/>
          <p:nvPr/>
        </p:nvSpPr>
        <p:spPr>
          <a:xfrm>
            <a:off x="640080" y="5029200"/>
            <a:ext cx="10972800" cy="1097280"/>
          </a:xfrm>
          <a:prstGeom prst="rect">
            <a:avLst/>
          </a:prstGeom>
          <a:noFill/>
        </p:spPr>
        <p:txBody>
          <a:bodyPr wrap="square">
            <a:spAutoFit/>
          </a:bodyPr>
          <a:lstStyle/>
          <a:p>
            <a:pPr algn="l"/>
            <a:r>
              <a:rPr sz="1600" b="0">
                <a:solidFill>
                  <a:srgbClr val="A8B3AA"/>
                </a:solidFill>
                <a:latin typeface="Calibri"/>
              </a:rPr>
              <a:t>Core banking is not a public staff website. Money is confirmed there; people work on the operating platform and the apps.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HOW MONEY MOVES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Every naira is posted once,
in core banking.</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06 / 16</a:t>
            </a:r>
          </a:p>
        </p:txBody>
      </p:sp>
      <p:sp>
        <p:nvSpPr>
          <p:cNvPr id="7" name="TextBox 6"/>
          <p:cNvSpPr txBox="1"/>
          <p:nvPr/>
        </p:nvSpPr>
        <p:spPr>
          <a:xfrm>
            <a:off x="640080" y="2331720"/>
            <a:ext cx="2560320" cy="2743200"/>
          </a:xfrm>
          <a:prstGeom prst="rect">
            <a:avLst/>
          </a:prstGeom>
          <a:noFill/>
        </p:spPr>
        <p:txBody>
          <a:bodyPr wrap="square">
            <a:spAutoFit/>
          </a:bodyPr>
          <a:lstStyle/>
          <a:p>
            <a:pPr algn="l"/>
            <a:r>
              <a:rPr sz="1500" b="0">
                <a:solidFill>
                  <a:srgbClr val="F4F0E6"/>
                </a:solidFill>
                <a:latin typeface="Calibri"/>
              </a:rPr>
              <a:t>INSTRUCTION
Teller, officer, field app, customer app, or payment</a:t>
            </a:r>
          </a:p>
        </p:txBody>
      </p:sp>
      <p:sp>
        <p:nvSpPr>
          <p:cNvPr id="8" name="TextBox 7"/>
          <p:cNvSpPr txBox="1"/>
          <p:nvPr/>
        </p:nvSpPr>
        <p:spPr>
          <a:xfrm>
            <a:off x="3383280" y="2331720"/>
            <a:ext cx="2560320" cy="2743200"/>
          </a:xfrm>
          <a:prstGeom prst="rect">
            <a:avLst/>
          </a:prstGeom>
          <a:noFill/>
        </p:spPr>
        <p:txBody>
          <a:bodyPr wrap="square">
            <a:spAutoFit/>
          </a:bodyPr>
          <a:lstStyle/>
          <a:p>
            <a:pPr algn="l"/>
            <a:r>
              <a:rPr sz="1500" b="0">
                <a:solidFill>
                  <a:srgbClr val="F4F0E6"/>
                </a:solidFill>
                <a:latin typeface="Calibri"/>
              </a:rPr>
              <a:t>INTEGRATION
Who is acting, licence, and branch</a:t>
            </a:r>
          </a:p>
        </p:txBody>
      </p:sp>
      <p:sp>
        <p:nvSpPr>
          <p:cNvPr id="9" name="TextBox 8"/>
          <p:cNvSpPr txBox="1"/>
          <p:nvPr/>
        </p:nvSpPr>
        <p:spPr>
          <a:xfrm>
            <a:off x="6126480" y="2331720"/>
            <a:ext cx="2560320" cy="2743200"/>
          </a:xfrm>
          <a:prstGeom prst="rect">
            <a:avLst/>
          </a:prstGeom>
          <a:noFill/>
        </p:spPr>
        <p:txBody>
          <a:bodyPr wrap="square">
            <a:spAutoFit/>
          </a:bodyPr>
          <a:lstStyle/>
          <a:p>
            <a:pPr algn="l"/>
            <a:r>
              <a:rPr sz="1500" b="0">
                <a:solidFill>
                  <a:srgbClr val="F4F0E6"/>
                </a:solidFill>
                <a:latin typeface="Calibri"/>
              </a:rPr>
              <a:t>CORE BANKING
Posts the transaction and updates the ledger</a:t>
            </a:r>
          </a:p>
        </p:txBody>
      </p:sp>
      <p:sp>
        <p:nvSpPr>
          <p:cNvPr id="10" name="TextBox 9"/>
          <p:cNvSpPr txBox="1"/>
          <p:nvPr/>
        </p:nvSpPr>
        <p:spPr>
          <a:xfrm>
            <a:off x="8869680" y="2331720"/>
            <a:ext cx="2651760" cy="2743200"/>
          </a:xfrm>
          <a:prstGeom prst="rect">
            <a:avLst/>
          </a:prstGeom>
          <a:noFill/>
        </p:spPr>
        <p:txBody>
          <a:bodyPr wrap="square">
            <a:spAutoFit/>
          </a:bodyPr>
          <a:lstStyle/>
          <a:p>
            <a:pPr algn="l"/>
            <a:r>
              <a:rPr sz="1500" b="0">
                <a:solidFill>
                  <a:srgbClr val="F4F0E6"/>
                </a:solidFill>
                <a:latin typeface="Calibri"/>
              </a:rPr>
              <a:t>OPERATING PLATFORM
Shows the receipt to staff and, where appropriate, to the customer</a:t>
            </a:r>
          </a:p>
        </p:txBody>
      </p:sp>
      <p:sp>
        <p:nvSpPr>
          <p:cNvPr id="11" name="TextBox 10"/>
          <p:cNvSpPr txBox="1"/>
          <p:nvPr/>
        </p:nvSpPr>
        <p:spPr>
          <a:xfrm>
            <a:off x="640080" y="5212080"/>
            <a:ext cx="10972800" cy="914400"/>
          </a:xfrm>
          <a:prstGeom prst="rect">
            <a:avLst/>
          </a:prstGeom>
          <a:noFill/>
        </p:spPr>
        <p:txBody>
          <a:bodyPr wrap="square">
            <a:spAutoFit/>
          </a:bodyPr>
          <a:lstStyle/>
          <a:p>
            <a:pPr algn="l"/>
            <a:r>
              <a:rPr sz="1600" b="0">
                <a:solidFill>
                  <a:srgbClr val="A8B3AA"/>
                </a:solidFill>
                <a:latin typeface="Calibri"/>
              </a:rPr>
              <a:t>If the network fails after posting, the same instruction is retried. A second posting is not created.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ONBOARDING AN INSTITUTION</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From licence to a live institution.</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07 / 16</a:t>
            </a:r>
          </a:p>
        </p:txBody>
      </p:sp>
      <p:sp>
        <p:nvSpPr>
          <p:cNvPr id="7" name="TextBox 6"/>
          <p:cNvSpPr txBox="1"/>
          <p:nvPr/>
        </p:nvSpPr>
        <p:spPr>
          <a:xfrm>
            <a:off x="640080" y="2286000"/>
            <a:ext cx="10972800" cy="3840480"/>
          </a:xfrm>
          <a:prstGeom prst="rect">
            <a:avLst/>
          </a:prstGeom>
          <a:noFill/>
        </p:spPr>
        <p:txBody>
          <a:bodyPr wrap="square">
            <a:spAutoFit/>
          </a:bodyPr>
          <a:lstStyle/>
          <a:p>
            <a:pPr algn="l"/>
            <a:r>
              <a:rPr sz="1600" b="0">
                <a:solidFill>
                  <a:srgbClr val="F4F0E6"/>
                </a:solidFill>
                <a:latin typeface="Calibri"/>
              </a:rPr>
              <a:t>1.  Super Administrator creates the institution, branding, and module pack.
2.  Head Office and branches are recorded. The institution’s administrator is invited.
3.  Core banking is prepared for that institution, with a matching office for each branch.
4.  Staff are given roles and branches. They sign in and see only their institution and those branches.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BRANCH ACCESS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Staff see their branch.
Money can only post there.</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08 / 16</a:t>
            </a:r>
          </a:p>
        </p:txBody>
      </p:sp>
      <p:sp>
        <p:nvSpPr>
          <p:cNvPr id="7" name="TextBox 6"/>
          <p:cNvSpPr txBox="1"/>
          <p:nvPr/>
        </p:nvSpPr>
        <p:spPr>
          <a:xfrm>
            <a:off x="640080" y="2468880"/>
            <a:ext cx="3474720" cy="2560320"/>
          </a:xfrm>
          <a:prstGeom prst="rect">
            <a:avLst/>
          </a:prstGeom>
          <a:noFill/>
        </p:spPr>
        <p:txBody>
          <a:bodyPr wrap="square">
            <a:spAutoFit/>
          </a:bodyPr>
          <a:lstStyle/>
          <a:p>
            <a:pPr algn="l"/>
            <a:r>
              <a:rPr sz="1600" b="0">
                <a:solidFill>
                  <a:srgbClr val="F4F0E6"/>
                </a:solidFill>
                <a:latin typeface="Calibri"/>
              </a:rPr>
              <a:t>OPERATING PLATFORM
A Garki officer does not see Wuse customers.</a:t>
            </a:r>
          </a:p>
        </p:txBody>
      </p:sp>
      <p:sp>
        <p:nvSpPr>
          <p:cNvPr id="8" name="TextBox 7"/>
          <p:cNvSpPr txBox="1"/>
          <p:nvPr/>
        </p:nvSpPr>
        <p:spPr>
          <a:xfrm>
            <a:off x="4389120" y="2468880"/>
            <a:ext cx="3474720" cy="2560320"/>
          </a:xfrm>
          <a:prstGeom prst="rect">
            <a:avLst/>
          </a:prstGeom>
          <a:noFill/>
        </p:spPr>
        <p:txBody>
          <a:bodyPr wrap="square">
            <a:spAutoFit/>
          </a:bodyPr>
          <a:lstStyle/>
          <a:p>
            <a:pPr algn="l"/>
            <a:r>
              <a:rPr sz="1600" b="0">
                <a:solidFill>
                  <a:srgbClr val="F4F0E6"/>
                </a:solidFill>
                <a:latin typeface="Calibri"/>
              </a:rPr>
              <a:t>INTEGRATION SERVICE
A request for another branch is refused.</a:t>
            </a:r>
          </a:p>
        </p:txBody>
      </p:sp>
      <p:sp>
        <p:nvSpPr>
          <p:cNvPr id="9" name="TextBox 8"/>
          <p:cNvSpPr txBox="1"/>
          <p:nvPr/>
        </p:nvSpPr>
        <p:spPr>
          <a:xfrm>
            <a:off x="8138160" y="2468880"/>
            <a:ext cx="3474720" cy="2560320"/>
          </a:xfrm>
          <a:prstGeom prst="rect">
            <a:avLst/>
          </a:prstGeom>
          <a:noFill/>
        </p:spPr>
        <p:txBody>
          <a:bodyPr wrap="square">
            <a:spAutoFit/>
          </a:bodyPr>
          <a:lstStyle/>
          <a:p>
            <a:pPr algn="l"/>
            <a:r>
              <a:rPr sz="1600" b="0">
                <a:solidFill>
                  <a:srgbClr val="F4F0E6"/>
                </a:solidFill>
                <a:latin typeface="Calibri"/>
              </a:rPr>
              <a:t>CORE BANKING
Postings can only land in the matching branch.</a:t>
            </a:r>
          </a:p>
        </p:txBody>
      </p:sp>
      <p:sp>
        <p:nvSpPr>
          <p:cNvPr id="10" name="TextBox 9"/>
          <p:cNvSpPr txBox="1"/>
          <p:nvPr/>
        </p:nvSpPr>
        <p:spPr>
          <a:xfrm>
            <a:off x="640080" y="5120640"/>
            <a:ext cx="10972800" cy="1005840"/>
          </a:xfrm>
          <a:prstGeom prst="rect">
            <a:avLst/>
          </a:prstGeom>
          <a:noFill/>
        </p:spPr>
        <p:txBody>
          <a:bodyPr wrap="square">
            <a:spAutoFit/>
          </a:bodyPr>
          <a:lstStyle/>
          <a:p>
            <a:pPr algn="l"/>
            <a:r>
              <a:rPr sz="1600" b="0">
                <a:solidFill>
                  <a:srgbClr val="A8B3AA"/>
                </a:solidFill>
                <a:latin typeface="Calibri"/>
              </a:rPr>
              <a:t>Institution finance may see all branches of their own institution. They cannot see another institution.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CUSTOMERS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A customer belongs to the institution,
a branch, and an officer.</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09 / 16</a:t>
            </a:r>
          </a:p>
        </p:txBody>
      </p:sp>
      <p:sp>
        <p:nvSpPr>
          <p:cNvPr id="7" name="TextBox 6"/>
          <p:cNvSpPr txBox="1"/>
          <p:nvPr/>
        </p:nvSpPr>
        <p:spPr>
          <a:xfrm>
            <a:off x="640080" y="2286000"/>
            <a:ext cx="10972800" cy="3840480"/>
          </a:xfrm>
          <a:prstGeom prst="rect">
            <a:avLst/>
          </a:prstGeom>
          <a:noFill/>
        </p:spPr>
        <p:txBody>
          <a:bodyPr wrap="square">
            <a:spAutoFit/>
          </a:bodyPr>
          <a:lstStyle/>
          <a:p>
            <a:pPr algn="l"/>
            <a:r>
              <a:rPr sz="1600" b="0">
                <a:solidFill>
                  <a:srgbClr val="F4F0E6"/>
                </a:solidFill>
                <a:latin typeface="Calibri"/>
              </a:rPr>
              <a:t>1.  Record — opened at a branch and assigned to an account officer.
2.  KYC — approved on the operating platform.
3.  Core banking — the same person is opened at that branch.
4.  Account — savings or loan is created in core banking.
The customer application and portal show only that person’s accounts.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CUSTOMERS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The record and the accounts are linked.
They are not two people.</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10 / 16</a:t>
            </a:r>
          </a:p>
        </p:txBody>
      </p:sp>
      <p:sp>
        <p:nvSpPr>
          <p:cNvPr id="7" name="TextBox 6"/>
          <p:cNvSpPr txBox="1"/>
          <p:nvPr/>
        </p:nvSpPr>
        <p:spPr>
          <a:xfrm>
            <a:off x="640080" y="2468880"/>
            <a:ext cx="5303520" cy="3108960"/>
          </a:xfrm>
          <a:prstGeom prst="rect">
            <a:avLst/>
          </a:prstGeom>
          <a:noFill/>
        </p:spPr>
        <p:txBody>
          <a:bodyPr wrap="square">
            <a:spAutoFit/>
          </a:bodyPr>
          <a:lstStyle/>
          <a:p>
            <a:pPr algn="l"/>
            <a:r>
              <a:rPr sz="1600" b="0">
                <a:solidFill>
                  <a:srgbClr val="F4F0E6"/>
                </a:solidFill>
                <a:latin typeface="Calibri"/>
              </a:rPr>
              <a:t>OPERATING PLATFORM
Name, KYC, documents, CRM, home branch, account officer. What staff use every day.</a:t>
            </a:r>
          </a:p>
        </p:txBody>
      </p:sp>
      <p:sp>
        <p:nvSpPr>
          <p:cNvPr id="8" name="TextBox 7"/>
          <p:cNvSpPr txBox="1"/>
          <p:nvPr/>
        </p:nvSpPr>
        <p:spPr>
          <a:xfrm>
            <a:off x="6400800" y="2468880"/>
            <a:ext cx="5120640" cy="3108960"/>
          </a:xfrm>
          <a:prstGeom prst="rect">
            <a:avLst/>
          </a:prstGeom>
          <a:noFill/>
        </p:spPr>
        <p:txBody>
          <a:bodyPr wrap="square">
            <a:spAutoFit/>
          </a:bodyPr>
          <a:lstStyle/>
          <a:p>
            <a:pPr algn="l"/>
            <a:r>
              <a:rPr sz="1600" b="0">
                <a:solidFill>
                  <a:srgbClr val="F4F0E6"/>
                </a:solidFill>
                <a:latin typeface="Calibri"/>
              </a:rPr>
              <a:t>CORE BANKING
Savings and loan accounts, balances, repayment schedule, ledger. The money.</a:t>
            </a:r>
          </a:p>
        </p:txBody>
      </p:sp>
      <p:sp>
        <p:nvSpPr>
          <p:cNvPr id="9" name="TextBox 8"/>
          <p:cNvSpPr txBox="1"/>
          <p:nvPr/>
        </p:nvSpPr>
        <p:spPr>
          <a:xfrm>
            <a:off x="640080" y="5120640"/>
            <a:ext cx="10972800" cy="1005840"/>
          </a:xfrm>
          <a:prstGeom prst="rect">
            <a:avLst/>
          </a:prstGeom>
          <a:noFill/>
        </p:spPr>
        <p:txBody>
          <a:bodyPr wrap="square">
            <a:spAutoFit/>
          </a:bodyPr>
          <a:lstStyle/>
          <a:p>
            <a:pPr algn="l"/>
            <a:r>
              <a:rPr sz="1600" b="0">
                <a:solidFill>
                  <a:srgbClr val="A8B3AA"/>
                </a:solidFill>
                <a:latin typeface="Calibri"/>
              </a:rPr>
              <a:t>One customer number on both sides. The officer sees their portfolio. The customer sees only themselves.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CONTROL PLANE</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System Administration is how
Emeraid operates the SaaS.</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11 / 16</a:t>
            </a:r>
          </a:p>
        </p:txBody>
      </p:sp>
      <p:sp>
        <p:nvSpPr>
          <p:cNvPr id="7" name="TextBox 6"/>
          <p:cNvSpPr txBox="1"/>
          <p:nvPr/>
        </p:nvSpPr>
        <p:spPr>
          <a:xfrm>
            <a:off x="640080" y="2468880"/>
            <a:ext cx="5303520" cy="2926080"/>
          </a:xfrm>
          <a:prstGeom prst="rect">
            <a:avLst/>
          </a:prstGeom>
          <a:noFill/>
        </p:spPr>
        <p:txBody>
          <a:bodyPr wrap="square">
            <a:spAutoFit/>
          </a:bodyPr>
          <a:lstStyle/>
          <a:p>
            <a:pPr algn="l"/>
            <a:r>
              <a:rPr sz="1600" b="0">
                <a:solidFill>
                  <a:srgbClr val="F4F0E6"/>
                </a:solidFill>
                <a:latin typeface="Calibri"/>
              </a:rPr>
              <a:t>EMERAID SUPER ADMINISTRATOR
Institutions, licences, packs, platform connectors, preparing core banking. Multi-factor authentication and a full audit trail.</a:t>
            </a:r>
          </a:p>
        </p:txBody>
      </p:sp>
      <p:sp>
        <p:nvSpPr>
          <p:cNvPr id="8" name="TextBox 7"/>
          <p:cNvSpPr txBox="1"/>
          <p:nvPr/>
        </p:nvSpPr>
        <p:spPr>
          <a:xfrm>
            <a:off x="6400800" y="2468880"/>
            <a:ext cx="5120640" cy="2926080"/>
          </a:xfrm>
          <a:prstGeom prst="rect">
            <a:avLst/>
          </a:prstGeom>
          <a:noFill/>
        </p:spPr>
        <p:txBody>
          <a:bodyPr wrap="square">
            <a:spAutoFit/>
          </a:bodyPr>
          <a:lstStyle/>
          <a:p>
            <a:pPr algn="l"/>
            <a:r>
              <a:rPr sz="1600" b="0">
                <a:solidFill>
                  <a:srgbClr val="F4F0E6"/>
                </a:solidFill>
                <a:latin typeface="Calibri"/>
              </a:rPr>
              <a:t>INSTITUTION ADMINISTRATOR
Their branches, staff, and local branding. They cannot see another institution or Emeraid’s platform credentials.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OWNERSHIP</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Each domain has one
system of record.</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12 / 16</a:t>
            </a:r>
          </a:p>
        </p:txBody>
      </p:sp>
      <p:sp>
        <p:nvSpPr>
          <p:cNvPr id="7" name="TextBox 6"/>
          <p:cNvSpPr txBox="1"/>
          <p:nvPr/>
        </p:nvSpPr>
        <p:spPr>
          <a:xfrm>
            <a:off x="640080" y="2331720"/>
            <a:ext cx="10972800" cy="3474720"/>
          </a:xfrm>
          <a:prstGeom prst="rect">
            <a:avLst/>
          </a:prstGeom>
          <a:noFill/>
        </p:spPr>
        <p:txBody>
          <a:bodyPr wrap="square">
            <a:spAutoFit/>
          </a:bodyPr>
          <a:lstStyle/>
          <a:p>
            <a:pPr algn="l"/>
            <a:r>
              <a:rPr sz="1800" b="0">
                <a:solidFill>
                  <a:srgbClr val="F4F0E6"/>
                </a:solidFill>
                <a:latin typeface="Calibri"/>
              </a:rPr>
              <a:t>Operating platform  —  institution, licence, packs, CRM, KYC, customer record, branch, account officer, VSLA, PayGo, agency.
Core banking  —  savings and loan accounts, balances, general ledger.
Integration service  —  field app, customer app, USSD, payments, and OEM calls, posting money in core banking.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SECURITY</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Controls sit on every path,
not only the server.</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13 / 16</a:t>
            </a:r>
          </a:p>
        </p:txBody>
      </p:sp>
      <p:sp>
        <p:nvSpPr>
          <p:cNvPr id="7" name="TextBox 6"/>
          <p:cNvSpPr txBox="1"/>
          <p:nvPr/>
        </p:nvSpPr>
        <p:spPr>
          <a:xfrm>
            <a:off x="640080" y="2377440"/>
            <a:ext cx="3474720" cy="3200400"/>
          </a:xfrm>
          <a:prstGeom prst="rect">
            <a:avLst/>
          </a:prstGeom>
          <a:noFill/>
        </p:spPr>
        <p:txBody>
          <a:bodyPr wrap="square">
            <a:spAutoFit/>
          </a:bodyPr>
          <a:lstStyle/>
          <a:p>
            <a:pPr algn="l"/>
            <a:r>
              <a:rPr sz="1500" b="0">
                <a:solidFill>
                  <a:srgbClr val="F4F0E6"/>
                </a:solidFill>
                <a:latin typeface="Calibri"/>
              </a:rPr>
              <a:t>ACCESS
TLS, OpenID Connect, multi-factor authentication, tenant and branch scope, licence enforcement on the API.</a:t>
            </a:r>
          </a:p>
        </p:txBody>
      </p:sp>
      <p:sp>
        <p:nvSpPr>
          <p:cNvPr id="8" name="TextBox 7"/>
          <p:cNvSpPr txBox="1"/>
          <p:nvPr/>
        </p:nvSpPr>
        <p:spPr>
          <a:xfrm>
            <a:off x="4389120" y="2377440"/>
            <a:ext cx="3474720" cy="3200400"/>
          </a:xfrm>
          <a:prstGeom prst="rect">
            <a:avLst/>
          </a:prstGeom>
          <a:noFill/>
        </p:spPr>
        <p:txBody>
          <a:bodyPr wrap="square">
            <a:spAutoFit/>
          </a:bodyPr>
          <a:lstStyle/>
          <a:p>
            <a:pPr algn="l"/>
            <a:r>
              <a:rPr sz="1500" b="0">
                <a:solidFill>
                  <a:srgbClr val="F4F0E6"/>
                </a:solidFill>
                <a:latin typeface="Calibri"/>
              </a:rPr>
              <a:t>MONEY
Core banking is the only ledger. Duplicate requests are not posted twice. Maker-checker. Core banking is not a public staff site.</a:t>
            </a:r>
          </a:p>
        </p:txBody>
      </p:sp>
      <p:sp>
        <p:nvSpPr>
          <p:cNvPr id="9" name="TextBox 8"/>
          <p:cNvSpPr txBox="1"/>
          <p:nvPr/>
        </p:nvSpPr>
        <p:spPr>
          <a:xfrm>
            <a:off x="8138160" y="2377440"/>
            <a:ext cx="3474720" cy="3200400"/>
          </a:xfrm>
          <a:prstGeom prst="rect">
            <a:avLst/>
          </a:prstGeom>
          <a:noFill/>
        </p:spPr>
        <p:txBody>
          <a:bodyPr wrap="square">
            <a:spAutoFit/>
          </a:bodyPr>
          <a:lstStyle/>
          <a:p>
            <a:pPr algn="l"/>
            <a:r>
              <a:rPr sz="1500" b="0">
                <a:solidFill>
                  <a:srgbClr val="F4F0E6"/>
                </a:solidFill>
                <a:latin typeface="Calibri"/>
              </a:rPr>
              <a:t>OPERATIONS
Encryption, NDPR, encrypted field store, audit, backup and restore, software bill of materials, penetration testing.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SAME ENVIRONMENT</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The operating platform and the
integration service are neighbours.</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14 / 16</a:t>
            </a:r>
          </a:p>
        </p:txBody>
      </p:sp>
      <p:sp>
        <p:nvSpPr>
          <p:cNvPr id="7" name="TextBox 6"/>
          <p:cNvSpPr txBox="1"/>
          <p:nvPr/>
        </p:nvSpPr>
        <p:spPr>
          <a:xfrm>
            <a:off x="640080" y="2331720"/>
            <a:ext cx="2560320" cy="2926080"/>
          </a:xfrm>
          <a:prstGeom prst="rect">
            <a:avLst/>
          </a:prstGeom>
          <a:noFill/>
        </p:spPr>
        <p:txBody>
          <a:bodyPr wrap="square">
            <a:spAutoFit/>
          </a:bodyPr>
          <a:lstStyle/>
          <a:p>
            <a:pPr algn="l"/>
            <a:r>
              <a:rPr sz="1500" b="0">
                <a:solidFill>
                  <a:srgbClr val="F4F0E6"/>
                </a:solidFill>
                <a:latin typeface="Calibri"/>
              </a:rPr>
              <a:t>NGINX
TLS at the edge</a:t>
            </a:r>
          </a:p>
        </p:txBody>
      </p:sp>
      <p:sp>
        <p:nvSpPr>
          <p:cNvPr id="8" name="TextBox 7"/>
          <p:cNvSpPr txBox="1"/>
          <p:nvPr/>
        </p:nvSpPr>
        <p:spPr>
          <a:xfrm>
            <a:off x="3383280" y="2331720"/>
            <a:ext cx="2560320" cy="2926080"/>
          </a:xfrm>
          <a:prstGeom prst="rect">
            <a:avLst/>
          </a:prstGeom>
          <a:noFill/>
        </p:spPr>
        <p:txBody>
          <a:bodyPr wrap="square">
            <a:spAutoFit/>
          </a:bodyPr>
          <a:lstStyle/>
          <a:p>
            <a:pPr algn="l"/>
            <a:r>
              <a:rPr sz="1500" b="0">
                <a:solidFill>
                  <a:srgbClr val="F4F0E6"/>
                </a:solidFill>
                <a:latin typeface="Calibri"/>
              </a:rPr>
              <a:t>STAFF AND PORTAL
Operating platform</a:t>
            </a:r>
          </a:p>
        </p:txBody>
      </p:sp>
      <p:sp>
        <p:nvSpPr>
          <p:cNvPr id="9" name="TextBox 8"/>
          <p:cNvSpPr txBox="1"/>
          <p:nvPr/>
        </p:nvSpPr>
        <p:spPr>
          <a:xfrm>
            <a:off x="6126480" y="2331720"/>
            <a:ext cx="2560320" cy="2926080"/>
          </a:xfrm>
          <a:prstGeom prst="rect">
            <a:avLst/>
          </a:prstGeom>
          <a:noFill/>
        </p:spPr>
        <p:txBody>
          <a:bodyPr wrap="square">
            <a:spAutoFit/>
          </a:bodyPr>
          <a:lstStyle/>
          <a:p>
            <a:pPr algn="l"/>
            <a:r>
              <a:rPr sz="1500" b="0">
                <a:solidFill>
                  <a:srgbClr val="F4F0E6"/>
                </a:solidFill>
                <a:latin typeface="Calibri"/>
              </a:rPr>
              <a:t>APPS AND PARTNERS
Integration service</a:t>
            </a:r>
          </a:p>
        </p:txBody>
      </p:sp>
      <p:sp>
        <p:nvSpPr>
          <p:cNvPr id="10" name="TextBox 9"/>
          <p:cNvSpPr txBox="1"/>
          <p:nvPr/>
        </p:nvSpPr>
        <p:spPr>
          <a:xfrm>
            <a:off x="8869680" y="2331720"/>
            <a:ext cx="2651760" cy="2926080"/>
          </a:xfrm>
          <a:prstGeom prst="rect">
            <a:avLst/>
          </a:prstGeom>
          <a:noFill/>
        </p:spPr>
        <p:txBody>
          <a:bodyPr wrap="square">
            <a:spAutoFit/>
          </a:bodyPr>
          <a:lstStyle/>
          <a:p>
            <a:pPr algn="l"/>
            <a:r>
              <a:rPr sz="1500" b="0">
                <a:solidFill>
                  <a:srgbClr val="F4F0E6"/>
                </a:solidFill>
                <a:latin typeface="Calibri"/>
              </a:rPr>
              <a:t>CORE BANKING
Internal only</a:t>
            </a:r>
          </a:p>
        </p:txBody>
      </p:sp>
      <p:sp>
        <p:nvSpPr>
          <p:cNvPr id="11" name="TextBox 10"/>
          <p:cNvSpPr txBox="1"/>
          <p:nvPr/>
        </p:nvSpPr>
        <p:spPr>
          <a:xfrm>
            <a:off x="640080" y="5212080"/>
            <a:ext cx="10972800" cy="914400"/>
          </a:xfrm>
          <a:prstGeom prst="rect">
            <a:avLst/>
          </a:prstGeom>
          <a:noFill/>
        </p:spPr>
        <p:txBody>
          <a:bodyPr wrap="square">
            <a:spAutoFit/>
          </a:bodyPr>
          <a:lstStyle/>
          <a:p>
            <a:pPr algn="l"/>
            <a:r>
              <a:rPr sz="1600" b="0">
                <a:solidFill>
                  <a:srgbClr val="A8B3AA"/>
                </a:solidFill>
                <a:latin typeface="Calibri"/>
              </a:rPr>
              <a:t>Each component keeps its own database. They connect through the integration service.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FOUNDATION</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Odoo remains the operating platform.
Fineract provides core banking.</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15 / 16</a:t>
            </a:r>
          </a:p>
        </p:txBody>
      </p:sp>
      <p:sp>
        <p:nvSpPr>
          <p:cNvPr id="7" name="TextBox 6"/>
          <p:cNvSpPr txBox="1"/>
          <p:nvPr/>
        </p:nvSpPr>
        <p:spPr>
          <a:xfrm>
            <a:off x="640080" y="2377440"/>
            <a:ext cx="10972800" cy="3291840"/>
          </a:xfrm>
          <a:prstGeom prst="rect">
            <a:avLst/>
          </a:prstGeom>
          <a:noFill/>
        </p:spPr>
        <p:txBody>
          <a:bodyPr wrap="square">
            <a:spAutoFit/>
          </a:bodyPr>
          <a:lstStyle/>
          <a:p>
            <a:pPr algn="l"/>
            <a:r>
              <a:rPr sz="1800" b="0">
                <a:solidFill>
                  <a:srgbClr val="F4F0E6"/>
                </a:solidFill>
                <a:latin typeface="Calibri"/>
              </a:rPr>
              <a:t>The 13 August 2026 financial proposal assumed an Odoo-only foundation for core banking. This architecture uses Apache Fineract for core banking so that Odoo remains the operating platform, rather than building that engine from scratch.
The combined stack changes delivery composition. Effort and commercial terms will be confirmed under the engagement’s change-control process.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320040"/>
          </a:xfrm>
          <a:prstGeom prst="rect">
            <a:avLst/>
          </a:prstGeom>
          <a:noFill/>
        </p:spPr>
        <p:txBody>
          <a:bodyPr wrap="square">
            <a:spAutoFit/>
          </a:bodyPr>
          <a:lstStyle/>
          <a:p>
            <a:pPr algn="l"/>
            <a:r>
              <a:rPr sz="1300" b="1">
                <a:solidFill>
                  <a:srgbClr val="C4A056"/>
                </a:solidFill>
                <a:latin typeface="Calibri"/>
              </a:rPr>
              <a:t>SUMMARY</a:t>
            </a:r>
          </a:p>
        </p:txBody>
      </p:sp>
      <p:sp>
        <p:nvSpPr>
          <p:cNvPr id="4" name="TextBox 3"/>
          <p:cNvSpPr txBox="1"/>
          <p:nvPr/>
        </p:nvSpPr>
        <p:spPr>
          <a:xfrm>
            <a:off x="640080" y="1188720"/>
            <a:ext cx="10972800" cy="2011680"/>
          </a:xfrm>
          <a:prstGeom prst="rect">
            <a:avLst/>
          </a:prstGeom>
          <a:noFill/>
        </p:spPr>
        <p:txBody>
          <a:bodyPr wrap="square">
            <a:spAutoFit/>
          </a:bodyPr>
          <a:lstStyle/>
          <a:p>
            <a:pPr algn="l"/>
            <a:r>
              <a:rPr sz="3600" b="0">
                <a:solidFill>
                  <a:srgbClr val="F4F0E6"/>
                </a:solidFill>
                <a:latin typeface="Georgia"/>
              </a:rPr>
              <a:t>One platform.
Configurable packs.
One ledger.</a:t>
            </a:r>
          </a:p>
        </p:txBody>
      </p:sp>
      <p:sp>
        <p:nvSpPr>
          <p:cNvPr id="5" name="TextBox 4"/>
          <p:cNvSpPr txBox="1"/>
          <p:nvPr/>
        </p:nvSpPr>
        <p:spPr>
          <a:xfrm>
            <a:off x="640080" y="3657600"/>
            <a:ext cx="10515600" cy="1828800"/>
          </a:xfrm>
          <a:prstGeom prst="rect">
            <a:avLst/>
          </a:prstGeom>
          <a:noFill/>
        </p:spPr>
        <p:txBody>
          <a:bodyPr wrap="square">
            <a:spAutoFit/>
          </a:bodyPr>
          <a:lstStyle/>
          <a:p>
            <a:pPr algn="l"/>
            <a:r>
              <a:rPr sz="1800" b="0">
                <a:solidFill>
                  <a:srgbClr val="A8B3AA"/>
                </a:solidFill>
                <a:latin typeface="Calibri"/>
              </a:rPr>
              <a:t>Emeraid hosts EDFIP, onboards institutions, and licenses modules. Staff and customers use the operating platform and the apps. Core banking holds the accounts. There is one customer, one set of accounts, and one ledger.</a:t>
            </a:r>
          </a:p>
        </p:txBody>
      </p:sp>
      <p:sp>
        <p:nvSpPr>
          <p:cNvPr id="6" name="TextBox 5"/>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7" name="TextBox 6"/>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