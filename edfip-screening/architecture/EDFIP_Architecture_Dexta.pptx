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PROPOSED ARCHITECTURE</a:t>
            </a:r>
          </a:p>
        </p:txBody>
      </p:sp>
      <p:sp>
        <p:nvSpPr>
          <p:cNvPr id="4" name="TextBox 3"/>
          <p:cNvSpPr txBox="1"/>
          <p:nvPr/>
        </p:nvSpPr>
        <p:spPr>
          <a:xfrm>
            <a:off x="640080" y="914400"/>
            <a:ext cx="10972800" cy="2011680"/>
          </a:xfrm>
          <a:prstGeom prst="rect">
            <a:avLst/>
          </a:prstGeom>
          <a:noFill/>
        </p:spPr>
        <p:txBody>
          <a:bodyPr wrap="square">
            <a:spAutoFit/>
          </a:bodyPr>
          <a:lstStyle/>
          <a:p>
            <a:pPr algn="l"/>
            <a:r>
              <a:rPr sz="3400" b="0">
                <a:solidFill>
                  <a:srgbClr val="F4F0E6"/>
                </a:solidFill>
                <a:latin typeface="Georgia"/>
              </a:rPr>
              <a:t>One platform Emeraid hosts.
Institutions are onboarded
and licensed.</a:t>
            </a:r>
          </a:p>
        </p:txBody>
      </p:sp>
      <p:sp>
        <p:nvSpPr>
          <p:cNvPr id="5" name="TextBox 4"/>
          <p:cNvSpPr txBox="1"/>
          <p:nvPr/>
        </p:nvSpPr>
        <p:spPr>
          <a:xfrm>
            <a:off x="640080" y="3291840"/>
            <a:ext cx="10515600" cy="1645920"/>
          </a:xfrm>
          <a:prstGeom prst="rect">
            <a:avLst/>
          </a:prstGeom>
          <a:noFill/>
        </p:spPr>
        <p:txBody>
          <a:bodyPr wrap="square">
            <a:spAutoFit/>
          </a:bodyPr>
          <a:lstStyle/>
          <a:p>
            <a:pPr algn="l"/>
            <a:r>
              <a:rPr sz="1800" b="0">
                <a:solidFill>
                  <a:srgbClr val="A8B3AA"/>
                </a:solidFill>
                <a:latin typeface="Calibri"/>
              </a:rPr>
              <a:t>This walkthrough develops the Apache Fineract and Odoo architecture already shared. It shows how EDFIP operates as multi-tenant software-as-a-service that Emeraid will brand and sell.</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SOFTWARE AS A SERVICE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Emeraid does not install EDFIP
at each institution.</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02 / 14</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1. HOST
One platform on Emeraid’s environment.</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2. ONBOARD
Super Administrator creates the institution.</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3. LICENCE
The purchased module pack is switched on.</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4. USE
Staff work only in the licensed portion.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CONFIGURABLE PACKS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same platform, sold as
different products.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03 / 14</a:t>
            </a:r>
          </a:p>
        </p:txBody>
      </p:sp>
      <p:sp>
        <p:nvSpPr>
          <p:cNvPr id="7" name="TextBox 6"/>
          <p:cNvSpPr txBox="1"/>
          <p:nvPr/>
        </p:nvSpPr>
        <p:spPr>
          <a:xfrm>
            <a:off x="640080" y="2331720"/>
            <a:ext cx="2743200" cy="2560320"/>
          </a:xfrm>
          <a:prstGeom prst="rect">
            <a:avLst/>
          </a:prstGeom>
          <a:noFill/>
        </p:spPr>
        <p:txBody>
          <a:bodyPr wrap="square">
            <a:spAutoFit/>
          </a:bodyPr>
          <a:lstStyle/>
          <a:p>
            <a:pPr algn="l"/>
            <a:r>
              <a:rPr sz="1500" b="0">
                <a:solidFill>
                  <a:srgbClr val="F4F0E6"/>
                </a:solidFill>
                <a:latin typeface="Calibri"/>
              </a:rPr>
              <a:t>MICROFINANCE
CRM, core banking,
agency, field app</a:t>
            </a:r>
          </a:p>
        </p:txBody>
      </p:sp>
      <p:sp>
        <p:nvSpPr>
          <p:cNvPr id="8" name="TextBox 7"/>
          <p:cNvSpPr txBox="1"/>
          <p:nvPr/>
        </p:nvSpPr>
        <p:spPr>
          <a:xfrm>
            <a:off x="3566160" y="2331720"/>
            <a:ext cx="2743200" cy="2560320"/>
          </a:xfrm>
          <a:prstGeom prst="rect">
            <a:avLst/>
          </a:prstGeom>
          <a:noFill/>
        </p:spPr>
        <p:txBody>
          <a:bodyPr wrap="square">
            <a:spAutoFit/>
          </a:bodyPr>
          <a:lstStyle/>
          <a:p>
            <a:pPr algn="l"/>
            <a:r>
              <a:rPr sz="1500" b="0">
                <a:solidFill>
                  <a:srgbClr val="F4F0E6"/>
                </a:solidFill>
                <a:latin typeface="Calibri"/>
              </a:rPr>
              <a:t>COOPERATIVE
CRM, share register,
core banking</a:t>
            </a:r>
          </a:p>
        </p:txBody>
      </p:sp>
      <p:sp>
        <p:nvSpPr>
          <p:cNvPr id="9" name="TextBox 8"/>
          <p:cNvSpPr txBox="1"/>
          <p:nvPr/>
        </p:nvSpPr>
        <p:spPr>
          <a:xfrm>
            <a:off x="6492240" y="2331720"/>
            <a:ext cx="2743200" cy="2560320"/>
          </a:xfrm>
          <a:prstGeom prst="rect">
            <a:avLst/>
          </a:prstGeom>
          <a:noFill/>
        </p:spPr>
        <p:txBody>
          <a:bodyPr wrap="square">
            <a:spAutoFit/>
          </a:bodyPr>
          <a:lstStyle/>
          <a:p>
            <a:pPr algn="l"/>
            <a:r>
              <a:rPr sz="1500" b="0">
                <a:solidFill>
                  <a:srgbClr val="F4F0E6"/>
                </a:solidFill>
                <a:latin typeface="Calibri"/>
              </a:rPr>
              <a:t>VSLA NETWORK
CRM, share-out,
core banking</a:t>
            </a:r>
          </a:p>
        </p:txBody>
      </p:sp>
      <p:sp>
        <p:nvSpPr>
          <p:cNvPr id="10" name="TextBox 9"/>
          <p:cNvSpPr txBox="1"/>
          <p:nvPr/>
        </p:nvSpPr>
        <p:spPr>
          <a:xfrm>
            <a:off x="9418320" y="2331720"/>
            <a:ext cx="2194560" cy="2560320"/>
          </a:xfrm>
          <a:prstGeom prst="rect">
            <a:avLst/>
          </a:prstGeom>
          <a:noFill/>
        </p:spPr>
        <p:txBody>
          <a:bodyPr wrap="square">
            <a:spAutoFit/>
          </a:bodyPr>
          <a:lstStyle/>
          <a:p>
            <a:pPr algn="l"/>
            <a:r>
              <a:rPr sz="1500" b="0">
                <a:solidFill>
                  <a:srgbClr val="F4F0E6"/>
                </a:solidFill>
                <a:latin typeface="Calibri"/>
              </a:rPr>
              <a:t>PAYGO / GAF
CRM, device credit,
OEM tokens</a:t>
            </a:r>
          </a:p>
        </p:txBody>
      </p:sp>
      <p:sp>
        <p:nvSpPr>
          <p:cNvPr id="11" name="TextBox 10"/>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Packs are assembled from a catalogue and can be changed during the contract. Unlicensed modules are unavailable in the screens and in the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PLATFORM</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Four parts. One ledger.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04 / 14</a:t>
            </a:r>
          </a:p>
        </p:txBody>
      </p:sp>
      <p:sp>
        <p:nvSpPr>
          <p:cNvPr id="7" name="TextBox 6"/>
          <p:cNvSpPr txBox="1"/>
          <p:nvPr/>
        </p:nvSpPr>
        <p:spPr>
          <a:xfrm>
            <a:off x="640080" y="2286000"/>
            <a:ext cx="2743200" cy="3108960"/>
          </a:xfrm>
          <a:prstGeom prst="rect">
            <a:avLst/>
          </a:prstGeom>
          <a:noFill/>
        </p:spPr>
        <p:txBody>
          <a:bodyPr wrap="square">
            <a:spAutoFit/>
          </a:bodyPr>
          <a:lstStyle/>
          <a:p>
            <a:pPr algn="l"/>
            <a:r>
              <a:rPr sz="1400" b="0">
                <a:solidFill>
                  <a:srgbClr val="F4F0E6"/>
                </a:solidFill>
                <a:latin typeface="Calibri"/>
              </a:rPr>
              <a:t>ODOO
Where people work: CRM, KYC, VSLA, cooperatives, PayGo, agency, System Administration.</a:t>
            </a:r>
          </a:p>
        </p:txBody>
      </p:sp>
      <p:sp>
        <p:nvSpPr>
          <p:cNvPr id="8" name="TextBox 7"/>
          <p:cNvSpPr txBox="1"/>
          <p:nvPr/>
        </p:nvSpPr>
        <p:spPr>
          <a:xfrm>
            <a:off x="3566160" y="2286000"/>
            <a:ext cx="2743200" cy="3108960"/>
          </a:xfrm>
          <a:prstGeom prst="rect">
            <a:avLst/>
          </a:prstGeom>
          <a:noFill/>
        </p:spPr>
        <p:txBody>
          <a:bodyPr wrap="square">
            <a:spAutoFit/>
          </a:bodyPr>
          <a:lstStyle/>
          <a:p>
            <a:pPr algn="l"/>
            <a:r>
              <a:rPr sz="1400" b="0">
                <a:solidFill>
                  <a:srgbClr val="F4F0E6"/>
                </a:solidFill>
                <a:latin typeface="Calibri"/>
              </a:rPr>
              <a:t>APACHE FINERACT
Core banking: loans, savings, schedules, balances, general ledger. APIs only.</a:t>
            </a:r>
          </a:p>
        </p:txBody>
      </p:sp>
      <p:sp>
        <p:nvSpPr>
          <p:cNvPr id="9" name="TextBox 8"/>
          <p:cNvSpPr txBox="1"/>
          <p:nvPr/>
        </p:nvSpPr>
        <p:spPr>
          <a:xfrm>
            <a:off x="6492240" y="2286000"/>
            <a:ext cx="2743200" cy="3108960"/>
          </a:xfrm>
          <a:prstGeom prst="rect">
            <a:avLst/>
          </a:prstGeom>
          <a:noFill/>
        </p:spPr>
        <p:txBody>
          <a:bodyPr wrap="square">
            <a:spAutoFit/>
          </a:bodyPr>
          <a:lstStyle/>
          <a:p>
            <a:pPr algn="l"/>
            <a:r>
              <a:rPr sz="1400" b="0">
                <a:solidFill>
                  <a:srgbClr val="F4F0E6"/>
                </a:solidFill>
                <a:latin typeface="Calibri"/>
              </a:rPr>
              <a:t>FASTAPI
Channel and money path. Separate process, same environment as Odoo.</a:t>
            </a:r>
          </a:p>
        </p:txBody>
      </p:sp>
      <p:sp>
        <p:nvSpPr>
          <p:cNvPr id="10" name="TextBox 9"/>
          <p:cNvSpPr txBox="1"/>
          <p:nvPr/>
        </p:nvSpPr>
        <p:spPr>
          <a:xfrm>
            <a:off x="9418320" y="2286000"/>
            <a:ext cx="2286000" cy="3108960"/>
          </a:xfrm>
          <a:prstGeom prst="rect">
            <a:avLst/>
          </a:prstGeom>
          <a:noFill/>
        </p:spPr>
        <p:txBody>
          <a:bodyPr wrap="square">
            <a:spAutoFit/>
          </a:bodyPr>
          <a:lstStyle/>
          <a:p>
            <a:pPr algn="l"/>
            <a:r>
              <a:rPr sz="1400" b="0">
                <a:solidFill>
                  <a:srgbClr val="F4F0E6"/>
                </a:solidFill>
                <a:latin typeface="Calibri"/>
              </a:rPr>
              <a:t>FLUTTER
Field Android (offline) and customer Android. Calls FastAPI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PEOPLE ENTER</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Staff open Odoo.
Channels open the API.</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05 / 14</a:t>
            </a:r>
          </a:p>
        </p:txBody>
      </p:sp>
      <p:sp>
        <p:nvSpPr>
          <p:cNvPr id="7" name="TextBox 6"/>
          <p:cNvSpPr txBox="1"/>
          <p:nvPr/>
        </p:nvSpPr>
        <p:spPr>
          <a:xfrm>
            <a:off x="640080" y="2468880"/>
            <a:ext cx="5303520" cy="2377440"/>
          </a:xfrm>
          <a:prstGeom prst="rect">
            <a:avLst/>
          </a:prstGeom>
          <a:noFill/>
        </p:spPr>
        <p:txBody>
          <a:bodyPr wrap="square">
            <a:spAutoFit/>
          </a:bodyPr>
          <a:lstStyle/>
          <a:p>
            <a:pPr algn="l"/>
            <a:r>
              <a:rPr sz="1600" b="0">
                <a:solidFill>
                  <a:srgbClr val="F4F0E6"/>
                </a:solidFill>
                <a:latin typeface="Calibri"/>
              </a:rPr>
              <a:t>ODOO
Institution staff, Emeraid Super Administrators, customer web portal.</a:t>
            </a:r>
          </a:p>
        </p:txBody>
      </p:sp>
      <p:sp>
        <p:nvSpPr>
          <p:cNvPr id="8" name="TextBox 7"/>
          <p:cNvSpPr txBox="1"/>
          <p:nvPr/>
        </p:nvSpPr>
        <p:spPr>
          <a:xfrm>
            <a:off x="6400800" y="2468880"/>
            <a:ext cx="5120640" cy="2377440"/>
          </a:xfrm>
          <a:prstGeom prst="rect">
            <a:avLst/>
          </a:prstGeom>
          <a:noFill/>
        </p:spPr>
        <p:txBody>
          <a:bodyPr wrap="square">
            <a:spAutoFit/>
          </a:bodyPr>
          <a:lstStyle/>
          <a:p>
            <a:pPr algn="l"/>
            <a:r>
              <a:rPr sz="1600" b="0">
                <a:solidFill>
                  <a:srgbClr val="F4F0E6"/>
                </a:solidFill>
                <a:latin typeface="Calibri"/>
              </a:rPr>
              <a:t>FASTAPI  ·  /api
Flutter, USSD, payment providers, OEM callbacks, partner integrations.</a:t>
            </a:r>
          </a:p>
        </p:txBody>
      </p:sp>
      <p:sp>
        <p:nvSpPr>
          <p:cNvPr id="9" name="TextBox 8"/>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Fineract is not a public staff website. When a teller posts a repayment in Odoo, the Odoo server calls FastAPI, which posts to Fineract.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MONEY MOVES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Every naira is posted once,
in Fineract.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06 / 14</a:t>
            </a:r>
          </a:p>
        </p:txBody>
      </p:sp>
      <p:sp>
        <p:nvSpPr>
          <p:cNvPr id="7" name="TextBox 6"/>
          <p:cNvSpPr txBox="1"/>
          <p:nvPr/>
        </p:nvSpPr>
        <p:spPr>
          <a:xfrm>
            <a:off x="640080" y="2331720"/>
            <a:ext cx="2560320" cy="2743200"/>
          </a:xfrm>
          <a:prstGeom prst="rect">
            <a:avLst/>
          </a:prstGeom>
          <a:noFill/>
        </p:spPr>
        <p:txBody>
          <a:bodyPr wrap="square">
            <a:spAutoFit/>
          </a:bodyPr>
          <a:lstStyle/>
          <a:p>
            <a:pPr algn="l"/>
            <a:r>
              <a:rPr sz="1500" b="0">
                <a:solidFill>
                  <a:srgbClr val="F4F0E6"/>
                </a:solidFill>
                <a:latin typeface="Calibri"/>
              </a:rPr>
              <a:t>INSTRUCTION
Teller, field app, USSD, or payment webhook</a:t>
            </a:r>
          </a:p>
        </p:txBody>
      </p:sp>
      <p:sp>
        <p:nvSpPr>
          <p:cNvPr id="8" name="TextBox 7"/>
          <p:cNvSpPr txBox="1"/>
          <p:nvPr/>
        </p:nvSpPr>
        <p:spPr>
          <a:xfrm>
            <a:off x="3383280" y="2331720"/>
            <a:ext cx="2560320" cy="2743200"/>
          </a:xfrm>
          <a:prstGeom prst="rect">
            <a:avLst/>
          </a:prstGeom>
          <a:noFill/>
        </p:spPr>
        <p:txBody>
          <a:bodyPr wrap="square">
            <a:spAutoFit/>
          </a:bodyPr>
          <a:lstStyle/>
          <a:p>
            <a:pPr algn="l"/>
            <a:r>
              <a:rPr sz="1500" b="0">
                <a:solidFill>
                  <a:srgbClr val="F4F0E6"/>
                </a:solidFill>
                <a:latin typeface="Calibri"/>
              </a:rPr>
              <a:t>FASTAPI
Identity, licence, branch, idempotency key</a:t>
            </a:r>
          </a:p>
        </p:txBody>
      </p:sp>
      <p:sp>
        <p:nvSpPr>
          <p:cNvPr id="9" name="TextBox 8"/>
          <p:cNvSpPr txBox="1"/>
          <p:nvPr/>
        </p:nvSpPr>
        <p:spPr>
          <a:xfrm>
            <a:off x="6126480" y="2331720"/>
            <a:ext cx="2560320" cy="2743200"/>
          </a:xfrm>
          <a:prstGeom prst="rect">
            <a:avLst/>
          </a:prstGeom>
          <a:noFill/>
        </p:spPr>
        <p:txBody>
          <a:bodyPr wrap="square">
            <a:spAutoFit/>
          </a:bodyPr>
          <a:lstStyle/>
          <a:p>
            <a:pPr algn="l"/>
            <a:r>
              <a:rPr sz="1500" b="0">
                <a:solidFill>
                  <a:srgbClr val="F4F0E6"/>
                </a:solidFill>
                <a:latin typeface="Calibri"/>
              </a:rPr>
              <a:t>FINERACT
Posts the transaction and updates the ledger</a:t>
            </a:r>
          </a:p>
        </p:txBody>
      </p:sp>
      <p:sp>
        <p:nvSpPr>
          <p:cNvPr id="10" name="TextBox 9"/>
          <p:cNvSpPr txBox="1"/>
          <p:nvPr/>
        </p:nvSpPr>
        <p:spPr>
          <a:xfrm>
            <a:off x="8869680" y="2331720"/>
            <a:ext cx="2651760" cy="2743200"/>
          </a:xfrm>
          <a:prstGeom prst="rect">
            <a:avLst/>
          </a:prstGeom>
          <a:noFill/>
        </p:spPr>
        <p:txBody>
          <a:bodyPr wrap="square">
            <a:spAutoFit/>
          </a:bodyPr>
          <a:lstStyle/>
          <a:p>
            <a:pPr algn="l"/>
            <a:r>
              <a:rPr sz="1500" b="0">
                <a:solidFill>
                  <a:srgbClr val="F4F0E6"/>
                </a:solidFill>
                <a:latin typeface="Calibri"/>
              </a:rPr>
              <a:t>ODOO
Shows confirmed status and issues the receipt</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If the network fails after posting, the same key is retried. A second posting is not created.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ONBOARDING AN INSTITUTION</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From licence to a live tenant.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07 / 14</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1.  Super Administrator creates the institution, branding, and module pack.
2.  Head Office and branches are recorded.
3.  The Institution Administrator is invited.
4.  FastAPI creates the Fineract tenant and an office for each branch.
5.  Institution Administrator assigns staff to roles and branches. Staff log into Odoo.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BRANCH ACCESS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Configured in Odoo.
Enforced for money in Fineract.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08 / 14</a:t>
            </a:r>
          </a:p>
        </p:txBody>
      </p:sp>
      <p:sp>
        <p:nvSpPr>
          <p:cNvPr id="7" name="TextBox 6"/>
          <p:cNvSpPr txBox="1"/>
          <p:nvPr/>
        </p:nvSpPr>
        <p:spPr>
          <a:xfrm>
            <a:off x="640080" y="2468880"/>
            <a:ext cx="3474720" cy="2560320"/>
          </a:xfrm>
          <a:prstGeom prst="rect">
            <a:avLst/>
          </a:prstGeom>
          <a:noFill/>
        </p:spPr>
        <p:txBody>
          <a:bodyPr wrap="square">
            <a:spAutoFit/>
          </a:bodyPr>
          <a:lstStyle/>
          <a:p>
            <a:pPr algn="l"/>
            <a:r>
              <a:rPr sz="1600" b="0">
                <a:solidFill>
                  <a:srgbClr val="F4F0E6"/>
                </a:solidFill>
                <a:latin typeface="Calibri"/>
              </a:rPr>
              <a:t>ODOO
A Garki officer does not see Wuse records.</a:t>
            </a:r>
          </a:p>
        </p:txBody>
      </p:sp>
      <p:sp>
        <p:nvSpPr>
          <p:cNvPr id="8" name="TextBox 7"/>
          <p:cNvSpPr txBox="1"/>
          <p:nvPr/>
        </p:nvSpPr>
        <p:spPr>
          <a:xfrm>
            <a:off x="4389120" y="2468880"/>
            <a:ext cx="3474720" cy="2560320"/>
          </a:xfrm>
          <a:prstGeom prst="rect">
            <a:avLst/>
          </a:prstGeom>
          <a:noFill/>
        </p:spPr>
        <p:txBody>
          <a:bodyPr wrap="square">
            <a:spAutoFit/>
          </a:bodyPr>
          <a:lstStyle/>
          <a:p>
            <a:pPr algn="l"/>
            <a:r>
              <a:rPr sz="1600" b="0">
                <a:solidFill>
                  <a:srgbClr val="F4F0E6"/>
                </a:solidFill>
                <a:latin typeface="Calibri"/>
              </a:rPr>
              <a:t>FASTAPI
A request for another branch is refused.</a:t>
            </a:r>
          </a:p>
        </p:txBody>
      </p:sp>
      <p:sp>
        <p:nvSpPr>
          <p:cNvPr id="9" name="TextBox 8"/>
          <p:cNvSpPr txBox="1"/>
          <p:nvPr/>
        </p:nvSpPr>
        <p:spPr>
          <a:xfrm>
            <a:off x="8138160" y="2468880"/>
            <a:ext cx="3474720" cy="2560320"/>
          </a:xfrm>
          <a:prstGeom prst="rect">
            <a:avLst/>
          </a:prstGeom>
          <a:noFill/>
        </p:spPr>
        <p:txBody>
          <a:bodyPr wrap="square">
            <a:spAutoFit/>
          </a:bodyPr>
          <a:lstStyle/>
          <a:p>
            <a:pPr algn="l"/>
            <a:r>
              <a:rPr sz="1600" b="0">
                <a:solidFill>
                  <a:srgbClr val="F4F0E6"/>
                </a:solidFill>
                <a:latin typeface="Calibri"/>
              </a:rPr>
              <a:t>FINERACT
Postings can only land in the mapped office.</a:t>
            </a:r>
          </a:p>
        </p:txBody>
      </p:sp>
      <p:sp>
        <p:nvSpPr>
          <p:cNvPr id="10" name="TextBox 9"/>
          <p:cNvSpPr txBox="1"/>
          <p:nvPr/>
        </p:nvSpPr>
        <p:spPr>
          <a:xfrm>
            <a:off x="640080" y="5120640"/>
            <a:ext cx="10972800" cy="1005840"/>
          </a:xfrm>
          <a:prstGeom prst="rect">
            <a:avLst/>
          </a:prstGeom>
          <a:noFill/>
        </p:spPr>
        <p:txBody>
          <a:bodyPr wrap="square">
            <a:spAutoFit/>
          </a:bodyPr>
          <a:lstStyle/>
          <a:p>
            <a:pPr algn="l"/>
            <a:r>
              <a:rPr sz="1600" b="0">
                <a:solidFill>
                  <a:srgbClr val="A8B3AA"/>
                </a:solidFill>
                <a:latin typeface="Calibri"/>
              </a:rPr>
              <a:t>Institution finance may see all branches of their own institution. They cannot see another tenant.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CONTROL PLANE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System Administration is how
Emeraid operates the SaaS.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09 / 14</a:t>
            </a:r>
          </a:p>
        </p:txBody>
      </p:sp>
      <p:sp>
        <p:nvSpPr>
          <p:cNvPr id="7" name="TextBox 6"/>
          <p:cNvSpPr txBox="1"/>
          <p:nvPr/>
        </p:nvSpPr>
        <p:spPr>
          <a:xfrm>
            <a:off x="640080" y="2468880"/>
            <a:ext cx="5303520" cy="2926080"/>
          </a:xfrm>
          <a:prstGeom prst="rect">
            <a:avLst/>
          </a:prstGeom>
          <a:noFill/>
        </p:spPr>
        <p:txBody>
          <a:bodyPr wrap="square">
            <a:spAutoFit/>
          </a:bodyPr>
          <a:lstStyle/>
          <a:p>
            <a:pPr algn="l"/>
            <a:r>
              <a:rPr sz="1600" b="0">
                <a:solidFill>
                  <a:srgbClr val="F4F0E6"/>
                </a:solidFill>
                <a:latin typeface="Calibri"/>
              </a:rPr>
              <a:t>EMERAID SUPER ADMINISTRATOR
Institutions, licences, packs, platform connectors, core-banking provisioning. Multi-factor authentication and a full audit trail.</a:t>
            </a:r>
          </a:p>
        </p:txBody>
      </p:sp>
      <p:sp>
        <p:nvSpPr>
          <p:cNvPr id="8" name="TextBox 7"/>
          <p:cNvSpPr txBox="1"/>
          <p:nvPr/>
        </p:nvSpPr>
        <p:spPr>
          <a:xfrm>
            <a:off x="6400800" y="2468880"/>
            <a:ext cx="5120640" cy="2926080"/>
          </a:xfrm>
          <a:prstGeom prst="rect">
            <a:avLst/>
          </a:prstGeom>
          <a:noFill/>
        </p:spPr>
        <p:txBody>
          <a:bodyPr wrap="square">
            <a:spAutoFit/>
          </a:bodyPr>
          <a:lstStyle/>
          <a:p>
            <a:pPr algn="l"/>
            <a:r>
              <a:rPr sz="1600" b="0">
                <a:solidFill>
                  <a:srgbClr val="F4F0E6"/>
                </a:solidFill>
                <a:latin typeface="Calibri"/>
              </a:rPr>
              <a:t>INSTITUTION ADMINISTRATOR
Their branches, staff, and local branding. They cannot see another institution or Emeraid’s platform credentials.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OWNERSHIP</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Each domain has one
system of record.</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10 / 14</a:t>
            </a:r>
          </a:p>
        </p:txBody>
      </p:sp>
      <p:sp>
        <p:nvSpPr>
          <p:cNvPr id="7" name="TextBox 6"/>
          <p:cNvSpPr txBox="1"/>
          <p:nvPr/>
        </p:nvSpPr>
        <p:spPr>
          <a:xfrm>
            <a:off x="640080" y="2331720"/>
            <a:ext cx="10972800" cy="3474720"/>
          </a:xfrm>
          <a:prstGeom prst="rect">
            <a:avLst/>
          </a:prstGeom>
          <a:noFill/>
        </p:spPr>
        <p:txBody>
          <a:bodyPr wrap="square">
            <a:spAutoFit/>
          </a:bodyPr>
          <a:lstStyle/>
          <a:p>
            <a:pPr algn="l"/>
            <a:r>
              <a:rPr sz="1800" b="0">
                <a:solidFill>
                  <a:srgbClr val="F4F0E6"/>
                </a:solidFill>
                <a:latin typeface="Calibri"/>
              </a:rPr>
              <a:t>Odoo masters  —  tenant, licence, packs, CRM, KYC, VSLA ceremony, PayGo devices, agency operations.
Fineract masters  —  loans, savings, balances, general ledger.
FastAPI  —  mobile, USSD, payments, and OEM calls, posting money in Fineract.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SECURITY</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Controls sit on every path,
not only the server.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11 / 14</a:t>
            </a:r>
          </a:p>
        </p:txBody>
      </p:sp>
      <p:sp>
        <p:nvSpPr>
          <p:cNvPr id="7" name="TextBox 6"/>
          <p:cNvSpPr txBox="1"/>
          <p:nvPr/>
        </p:nvSpPr>
        <p:spPr>
          <a:xfrm>
            <a:off x="640080" y="2377440"/>
            <a:ext cx="3474720" cy="3200400"/>
          </a:xfrm>
          <a:prstGeom prst="rect">
            <a:avLst/>
          </a:prstGeom>
          <a:noFill/>
        </p:spPr>
        <p:txBody>
          <a:bodyPr wrap="square">
            <a:spAutoFit/>
          </a:bodyPr>
          <a:lstStyle/>
          <a:p>
            <a:pPr algn="l"/>
            <a:r>
              <a:rPr sz="1500" b="0">
                <a:solidFill>
                  <a:srgbClr val="F4F0E6"/>
                </a:solidFill>
                <a:latin typeface="Calibri"/>
              </a:rPr>
              <a:t>ACCESS
TLS, OpenID Connect, multi-factor authentication, tenant and branch scope, licence enforcement on the API.</a:t>
            </a:r>
          </a:p>
        </p:txBody>
      </p:sp>
      <p:sp>
        <p:nvSpPr>
          <p:cNvPr id="8" name="TextBox 7"/>
          <p:cNvSpPr txBox="1"/>
          <p:nvPr/>
        </p:nvSpPr>
        <p:spPr>
          <a:xfrm>
            <a:off x="4389120" y="2377440"/>
            <a:ext cx="3474720" cy="3200400"/>
          </a:xfrm>
          <a:prstGeom prst="rect">
            <a:avLst/>
          </a:prstGeom>
          <a:noFill/>
        </p:spPr>
        <p:txBody>
          <a:bodyPr wrap="square">
            <a:spAutoFit/>
          </a:bodyPr>
          <a:lstStyle/>
          <a:p>
            <a:pPr algn="l"/>
            <a:r>
              <a:rPr sz="1500" b="0">
                <a:solidFill>
                  <a:srgbClr val="F4F0E6"/>
                </a:solidFill>
                <a:latin typeface="Calibri"/>
              </a:rPr>
              <a:t>MONEY
Fineract is the only ledger. Idempotent posting. Maker-checker. Fineract is not a public staff site.</a:t>
            </a:r>
          </a:p>
        </p:txBody>
      </p:sp>
      <p:sp>
        <p:nvSpPr>
          <p:cNvPr id="9" name="TextBox 8"/>
          <p:cNvSpPr txBox="1"/>
          <p:nvPr/>
        </p:nvSpPr>
        <p:spPr>
          <a:xfrm>
            <a:off x="8138160" y="2377440"/>
            <a:ext cx="3474720" cy="3200400"/>
          </a:xfrm>
          <a:prstGeom prst="rect">
            <a:avLst/>
          </a:prstGeom>
          <a:noFill/>
        </p:spPr>
        <p:txBody>
          <a:bodyPr wrap="square">
            <a:spAutoFit/>
          </a:bodyPr>
          <a:lstStyle/>
          <a:p>
            <a:pPr algn="l"/>
            <a:r>
              <a:rPr sz="1500" b="0">
                <a:solidFill>
                  <a:srgbClr val="F4F0E6"/>
                </a:solidFill>
                <a:latin typeface="Calibri"/>
              </a:rPr>
              <a:t>OPERATIONS
Encryption, NDPR, encrypted field store, audit, backup and restore, software bill of materials, penetration testing.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SAME ENVIRONMENT</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Odoo and FastAPI are neighbours,
not one programme.</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12 / 14</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NGINX
TLS at the edge</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  →  ODOO
Staff and System Administration</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/API  →  FASTAPI
Apps, USSD, partners</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FINERACT
Internal core banking only</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Each component keeps its own database. They integrate through APIs.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PROPOSAL</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This develops the architecture
already discussed.</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13 / 14</a:t>
            </a:r>
          </a:p>
        </p:txBody>
      </p:sp>
      <p:sp>
        <p:nvSpPr>
          <p:cNvPr id="7" name="TextBox 6"/>
          <p:cNvSpPr txBox="1"/>
          <p:nvPr/>
        </p:nvSpPr>
        <p:spPr>
          <a:xfrm>
            <a:off x="640080" y="2377440"/>
            <a:ext cx="10972800" cy="3291840"/>
          </a:xfrm>
          <a:prstGeom prst="rect">
            <a:avLst/>
          </a:prstGeom>
          <a:noFill/>
        </p:spPr>
        <p:txBody>
          <a:bodyPr wrap="square">
            <a:spAutoFit/>
          </a:bodyPr>
          <a:lstStyle/>
          <a:p>
            <a:pPr algn="l"/>
            <a:r>
              <a:rPr sz="1800" b="0">
                <a:solidFill>
                  <a:srgbClr val="F4F0E6"/>
                </a:solidFill>
                <a:latin typeface="Calibri"/>
              </a:rPr>
              <a:t>The 13 August 2026 financial proposal used an Odoo-only foundation for core banking. Using Apache Fineract keeps Odoo as the operating platform and avoids building that engine from scratch.
It changes delivery composition. Effort and commercial terms for the combined stack will be confirmed with Emeraid under change control.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SUMMARY</a:t>
            </a:r>
          </a:p>
        </p:txBody>
      </p:sp>
      <p:sp>
        <p:nvSpPr>
          <p:cNvPr id="4" name="TextBox 3"/>
          <p:cNvSpPr txBox="1"/>
          <p:nvPr/>
        </p:nvSpPr>
        <p:spPr>
          <a:xfrm>
            <a:off x="640080" y="1188720"/>
            <a:ext cx="10972800" cy="2011680"/>
          </a:xfrm>
          <a:prstGeom prst="rect">
            <a:avLst/>
          </a:prstGeom>
          <a:noFill/>
        </p:spPr>
        <p:txBody>
          <a:bodyPr wrap="square">
            <a:spAutoFit/>
          </a:bodyPr>
          <a:lstStyle/>
          <a:p>
            <a:pPr algn="l"/>
            <a:r>
              <a:rPr sz="3600" b="0">
                <a:solidFill>
                  <a:srgbClr val="F4F0E6"/>
                </a:solidFill>
                <a:latin typeface="Georgia"/>
              </a:rPr>
              <a:t>One platform.
Configurable packs.
One ledger.</a:t>
            </a:r>
          </a:p>
        </p:txBody>
      </p:sp>
      <p:sp>
        <p:nvSpPr>
          <p:cNvPr id="5" name="TextBox 4"/>
          <p:cNvSpPr txBox="1"/>
          <p:nvPr/>
        </p:nvSpPr>
        <p:spPr>
          <a:xfrm>
            <a:off x="640080" y="3657600"/>
            <a:ext cx="10515600" cy="1828800"/>
          </a:xfrm>
          <a:prstGeom prst="rect">
            <a:avLst/>
          </a:prstGeom>
          <a:noFill/>
        </p:spPr>
        <p:txBody>
          <a:bodyPr wrap="square">
            <a:spAutoFit/>
          </a:bodyPr>
          <a:lstStyle/>
          <a:p>
            <a:pPr algn="l"/>
            <a:r>
              <a:rPr sz="1800" b="0">
                <a:solidFill>
                  <a:srgbClr val="A8B3AA"/>
                </a:solidFill>
                <a:latin typeface="Calibri"/>
              </a:rPr>
              <a:t>Emeraid hosts EDFIP, onboards institutions, and licenses modules. Staff work in Odoo. Apache Fineract is the core banking engine. FastAPI, beside Odoo, is the path that moves money.</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